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Open Sans" panose="020B0606030504020204" pitchFamily="34" charset="0"/>
      <p:regular r:id="rId18"/>
    </p:embeddedFont>
    <p:embeddedFont>
      <p:font typeface="Open Sans Bold" panose="020B0604020202020204" charset="0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514350"/>
            <a:ext cx="17259300" cy="9258300"/>
            <a:chOff x="0" y="0"/>
            <a:chExt cx="4545659" cy="243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5659" cy="2438400"/>
            </a:xfrm>
            <a:custGeom>
              <a:avLst/>
              <a:gdLst/>
              <a:ahLst/>
              <a:cxnLst/>
              <a:rect l="l" t="t" r="r" b="b"/>
              <a:pathLst>
                <a:path w="4545659" h="2438400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6481425" y="3075418"/>
            <a:ext cx="0" cy="5873524"/>
          </a:xfrm>
          <a:prstGeom prst="line">
            <a:avLst/>
          </a:prstGeom>
          <a:ln w="38100" cap="flat">
            <a:solidFill>
              <a:srgbClr val="2F008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1876334" y="5927869"/>
            <a:ext cx="4255033" cy="3021073"/>
          </a:xfrm>
          <a:custGeom>
            <a:avLst/>
            <a:gdLst/>
            <a:ahLst/>
            <a:cxnLst/>
            <a:rect l="l" t="t" r="r" b="b"/>
            <a:pathLst>
              <a:path w="4255033" h="3021073">
                <a:moveTo>
                  <a:pt x="0" y="0"/>
                </a:moveTo>
                <a:lnTo>
                  <a:pt x="4255033" y="0"/>
                </a:lnTo>
                <a:lnTo>
                  <a:pt x="4255033" y="3021073"/>
                </a:lnTo>
                <a:lnTo>
                  <a:pt x="0" y="3021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398834" y="1147558"/>
            <a:ext cx="10747002" cy="16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5"/>
              </a:lnSpc>
              <a:spcBef>
                <a:spcPct val="0"/>
              </a:spcBef>
            </a:pPr>
            <a:r>
              <a:rPr lang="en-US" sz="9568" b="1" u="none" strike="noStrik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Proyecto Capstone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15694786" y="1937306"/>
            <a:ext cx="1630362" cy="43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DE59"/>
                </a:solidFill>
                <a:latin typeface="Roboto Bold"/>
                <a:ea typeface="Roboto Bold"/>
                <a:cs typeface="Roboto Bold"/>
                <a:sym typeface="Roboto Bold"/>
              </a:rPr>
              <a:t>DUOC </a:t>
            </a:r>
            <a:r>
              <a:rPr lang="en-US" sz="2500" b="1">
                <a:solidFill>
                  <a:srgbClr val="577396"/>
                </a:solidFill>
                <a:latin typeface="Roboto Bold"/>
                <a:ea typeface="Roboto Bold"/>
                <a:cs typeface="Roboto Bold"/>
                <a:sym typeface="Roboto Bold"/>
              </a:rPr>
              <a:t>UC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8834" y="2806495"/>
            <a:ext cx="10747002" cy="142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99"/>
              </a:lnSpc>
              <a:spcBef>
                <a:spcPct val="0"/>
              </a:spcBef>
            </a:pPr>
            <a:r>
              <a:rPr lang="en-US" sz="8285" b="1" u="none" strike="noStrike">
                <a:solidFill>
                  <a:srgbClr val="2F0087"/>
                </a:solidFill>
                <a:latin typeface="Roboto Bold"/>
                <a:ea typeface="Roboto Bold"/>
                <a:cs typeface="Roboto Bold"/>
                <a:sym typeface="Roboto Bold"/>
              </a:rPr>
              <a:t>Ingeniería Informática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8834" y="7226187"/>
            <a:ext cx="6642379" cy="172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Docente:         Aldo Alberto Martinez Ordenes   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endParaRPr lang="en-US" sz="20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Institución:     Duoc UC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Integrantes:   César Moreno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Marcelo Tapia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8834" y="4340894"/>
            <a:ext cx="10747002" cy="1496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 de </a:t>
            </a:r>
            <a:r>
              <a:rPr lang="en-US" sz="3200" b="1" dirty="0" err="1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</a:t>
            </a:r>
            <a:r>
              <a:rPr lang="en-US" sz="3200" b="1" dirty="0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Técnica </a:t>
            </a:r>
            <a:r>
              <a:rPr lang="en-US" sz="3200" b="1" dirty="0" err="1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Eléctrica</a:t>
            </a:r>
            <a:endParaRPr lang="en-US" sz="3200" b="1" dirty="0">
              <a:solidFill>
                <a:srgbClr val="3A044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780"/>
              </a:lnSpc>
            </a:pP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para el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levantamiento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registro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cotización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servicios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eléctricos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58300"/>
            <a:chOff x="0" y="0"/>
            <a:chExt cx="4545659" cy="243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5659" cy="2438400"/>
            </a:xfrm>
            <a:custGeom>
              <a:avLst/>
              <a:gdLst/>
              <a:ahLst/>
              <a:cxnLst/>
              <a:rect l="l" t="t" r="r" b="b"/>
              <a:pathLst>
                <a:path w="4545659" h="2438400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49935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AutoShape 15"/>
          <p:cNvSpPr/>
          <p:nvPr/>
        </p:nvSpPr>
        <p:spPr>
          <a:xfrm>
            <a:off x="6800850" y="2034033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" name="AutoShape 16"/>
          <p:cNvSpPr/>
          <p:nvPr/>
        </p:nvSpPr>
        <p:spPr>
          <a:xfrm>
            <a:off x="6800850" y="2783668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7" name="AutoShape 17"/>
          <p:cNvSpPr/>
          <p:nvPr/>
        </p:nvSpPr>
        <p:spPr>
          <a:xfrm>
            <a:off x="6800850" y="3533302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8" name="AutoShape 18"/>
          <p:cNvSpPr/>
          <p:nvPr/>
        </p:nvSpPr>
        <p:spPr>
          <a:xfrm>
            <a:off x="6800850" y="4282937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9" name="AutoShape 19"/>
          <p:cNvSpPr/>
          <p:nvPr/>
        </p:nvSpPr>
        <p:spPr>
          <a:xfrm>
            <a:off x="6800850" y="5032572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0" name="AutoShape 20"/>
          <p:cNvSpPr/>
          <p:nvPr/>
        </p:nvSpPr>
        <p:spPr>
          <a:xfrm>
            <a:off x="6800850" y="5782207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1" name="AutoShape 21"/>
          <p:cNvSpPr/>
          <p:nvPr/>
        </p:nvSpPr>
        <p:spPr>
          <a:xfrm>
            <a:off x="6800850" y="6531842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2" name="AutoShape 22"/>
          <p:cNvSpPr/>
          <p:nvPr/>
        </p:nvSpPr>
        <p:spPr>
          <a:xfrm>
            <a:off x="6800850" y="7281476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AutoShape 23"/>
          <p:cNvSpPr/>
          <p:nvPr/>
        </p:nvSpPr>
        <p:spPr>
          <a:xfrm>
            <a:off x="6800850" y="8031111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2299903" y="3712331"/>
            <a:ext cx="1953393" cy="2100423"/>
          </a:xfrm>
          <a:custGeom>
            <a:avLst/>
            <a:gdLst/>
            <a:ahLst/>
            <a:cxnLst/>
            <a:rect l="l" t="t" r="r" b="b"/>
            <a:pathLst>
              <a:path w="1953393" h="2100423">
                <a:moveTo>
                  <a:pt x="0" y="0"/>
                </a:moveTo>
                <a:lnTo>
                  <a:pt x="1953394" y="0"/>
                </a:lnTo>
                <a:lnTo>
                  <a:pt x="1953394" y="2100423"/>
                </a:lnTo>
                <a:lnTo>
                  <a:pt x="0" y="210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TextBox 25"/>
          <p:cNvSpPr txBox="1"/>
          <p:nvPr/>
        </p:nvSpPr>
        <p:spPr>
          <a:xfrm>
            <a:off x="895350" y="1251575"/>
            <a:ext cx="47625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Índice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00850" y="1323975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58139" y="1323975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Introducción y contexto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0850" y="2073610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58139" y="2073610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Problemática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00850" y="2823245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58139" y="2823245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Solución propuesta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00850" y="3572879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58139" y="3572879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Metodología y planificación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00850" y="4322514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58139" y="4322514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Arquitectura tecnológica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00850" y="5072149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58139" y="5072149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Competencias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00850" y="5821784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58139" y="5821784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Riesgos y seguridad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00850" y="6571419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58139" y="6571419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Modelo de negocio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00850" y="7321053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58139" y="7321053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Mockup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00850" y="8070688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358139" y="8070688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58300"/>
            <a:chOff x="0" y="0"/>
            <a:chExt cx="4545659" cy="243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5659" cy="2438400"/>
            </a:xfrm>
            <a:custGeom>
              <a:avLst/>
              <a:gdLst/>
              <a:ahLst/>
              <a:cxnLst/>
              <a:rect l="l" t="t" r="r" b="b"/>
              <a:pathLst>
                <a:path w="4545659" h="2438400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859954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2044319" y="3707593"/>
            <a:ext cx="2464563" cy="2567253"/>
          </a:xfrm>
          <a:custGeom>
            <a:avLst/>
            <a:gdLst/>
            <a:ahLst/>
            <a:cxnLst/>
            <a:rect l="l" t="t" r="r" b="b"/>
            <a:pathLst>
              <a:path w="2464563" h="2567253">
                <a:moveTo>
                  <a:pt x="0" y="0"/>
                </a:moveTo>
                <a:lnTo>
                  <a:pt x="2464562" y="0"/>
                </a:lnTo>
                <a:lnTo>
                  <a:pt x="2464562" y="2567252"/>
                </a:lnTo>
                <a:lnTo>
                  <a:pt x="0" y="25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895350" y="1447661"/>
            <a:ext cx="4762500" cy="1237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67"/>
              </a:lnSpc>
              <a:spcBef>
                <a:spcPct val="0"/>
              </a:spcBef>
            </a:pPr>
            <a:r>
              <a:rPr lang="en-US" sz="4425" b="1" u="none" strike="noStrik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Introducción</a:t>
            </a:r>
          </a:p>
          <a:p>
            <a:pPr marL="0" lvl="0" indent="0" algn="ctr">
              <a:lnSpc>
                <a:spcPts val="4867"/>
              </a:lnSpc>
              <a:spcBef>
                <a:spcPct val="0"/>
              </a:spcBef>
            </a:pPr>
            <a:r>
              <a:rPr lang="en-US" sz="4425" b="1" u="none" strike="noStrik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 contexto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00875" y="1152525"/>
            <a:ext cx="9858375" cy="479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6"/>
              </a:lnSpc>
              <a:spcBef>
                <a:spcPct val="0"/>
              </a:spcBef>
            </a:pP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levantamiento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eléctrico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domiciliario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permite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conocer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las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condiciones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vivienda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detectar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necesidades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definir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trabajos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requeridos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 Sin embargo,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este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proceso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suele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apoyarse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anotaciones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fotografías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mensajes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documentos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separados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dificultando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organización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posterior de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información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0" lvl="0" indent="0" algn="l">
              <a:lnSpc>
                <a:spcPts val="3496"/>
              </a:lnSpc>
              <a:spcBef>
                <a:spcPct val="0"/>
              </a:spcBef>
            </a:pPr>
            <a:endParaRPr lang="en-US" sz="2185" u="none" strike="noStrike" dirty="0">
              <a:solidFill>
                <a:srgbClr val="1A1A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496"/>
              </a:lnSpc>
              <a:spcBef>
                <a:spcPct val="0"/>
              </a:spcBef>
            </a:pP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Para responder 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esta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necesidad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se propone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desarrollar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plataforma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web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responsiva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permita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al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técnico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registrar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datos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directamente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desde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un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computador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tablet o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celular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información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será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centralizada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ficha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digital del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hogar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facilitando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seguimiento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de las visitas y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preparación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soluciones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materiales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cotizaciones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eléctricas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00850" y="6684579"/>
            <a:ext cx="10258425" cy="1289562"/>
            <a:chOff x="0" y="0"/>
            <a:chExt cx="13677900" cy="1719416"/>
          </a:xfrm>
        </p:grpSpPr>
        <p:grpSp>
          <p:nvGrpSpPr>
            <p:cNvPr id="19" name="Group 19"/>
            <p:cNvGrpSpPr/>
            <p:nvPr/>
          </p:nvGrpSpPr>
          <p:grpSpPr>
            <a:xfrm>
              <a:off x="13228" y="0"/>
              <a:ext cx="3214439" cy="1719416"/>
              <a:chOff x="0" y="0"/>
              <a:chExt cx="3137015" cy="167800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492230" y="0"/>
              <a:ext cx="3214439" cy="1719416"/>
              <a:chOff x="0" y="0"/>
              <a:chExt cx="3137015" cy="16780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971231" y="0"/>
              <a:ext cx="3214439" cy="1719416"/>
              <a:chOff x="0" y="0"/>
              <a:chExt cx="3137015" cy="16780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450233" y="0"/>
              <a:ext cx="3214439" cy="1719416"/>
              <a:chOff x="0" y="0"/>
              <a:chExt cx="3137015" cy="16780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825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Registro desde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distintos dispositivos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92230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84827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Levantamiento técnico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estandarizado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4460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63828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Historial digital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por vivienda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63461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42830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Apoyo para soluciones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y cotizaciones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66377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838839" y="3451709"/>
            <a:ext cx="2875522" cy="2602348"/>
          </a:xfrm>
          <a:custGeom>
            <a:avLst/>
            <a:gdLst/>
            <a:ahLst/>
            <a:cxnLst/>
            <a:rect l="l" t="t" r="r" b="b"/>
            <a:pathLst>
              <a:path w="2875522" h="2602348">
                <a:moveTo>
                  <a:pt x="0" y="0"/>
                </a:moveTo>
                <a:lnTo>
                  <a:pt x="2875522" y="0"/>
                </a:lnTo>
                <a:lnTo>
                  <a:pt x="2875522" y="2602348"/>
                </a:lnTo>
                <a:lnTo>
                  <a:pt x="0" y="2602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895350" y="1825537"/>
            <a:ext cx="4762500" cy="751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Problemática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58025" y="1881411"/>
            <a:ext cx="10201275" cy="192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Actualmente, los técnicos eléctricos realizan el levantamiento de información de forma manual, utilizando papel y herramientas no estandarizadas. Esto genera pérdida de datos, errores en las cotizaciones y demoras en la entrega de soluciones al cliente.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58025" y="4066877"/>
            <a:ext cx="10201275" cy="386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Información dispersa o incompleta.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Uso de registros manuales.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Dificultad para revisar trabajos anteriores.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Errores al transcribir información.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Demoras al preparar cotizaciones.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Falta de un historial técnico por vivienda.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Ausencia de un formato estandarizado de levantamiento.</a:t>
            </a:r>
          </a:p>
          <a:p>
            <a:pPr algn="l">
              <a:lnSpc>
                <a:spcPts val="3840"/>
              </a:lnSpc>
            </a:pPr>
            <a:endParaRPr lang="en-US" sz="2400">
              <a:solidFill>
                <a:srgbClr val="1A1A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313182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6813005" y="3681970"/>
            <a:ext cx="10210800" cy="532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Inicio de sesión.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clientes.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viviendas.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Creación de visitas o levantamientos técnicos.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Formulario guiado para registrar datos eléctricos.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tablero, circuitos, enchufes, iluminación y observaciones.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materiales y trabajos requeridos.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Consulta del historial de una vivienda.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Generación de una ficha técnica digital.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Apoyo para elaborar soluciones.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Exportación o impresión de la ficha, si alcanza el tiempo de desarrollo.</a:t>
            </a:r>
          </a:p>
        </p:txBody>
      </p:sp>
      <p:sp>
        <p:nvSpPr>
          <p:cNvPr id="16" name="Freeform 16"/>
          <p:cNvSpPr/>
          <p:nvPr/>
        </p:nvSpPr>
        <p:spPr>
          <a:xfrm>
            <a:off x="2026704" y="3546895"/>
            <a:ext cx="2499793" cy="3067230"/>
          </a:xfrm>
          <a:custGeom>
            <a:avLst/>
            <a:gdLst/>
            <a:ahLst/>
            <a:cxnLst/>
            <a:rect l="l" t="t" r="r" b="b"/>
            <a:pathLst>
              <a:path w="2499793" h="3067230">
                <a:moveTo>
                  <a:pt x="0" y="0"/>
                </a:moveTo>
                <a:lnTo>
                  <a:pt x="2499792" y="0"/>
                </a:lnTo>
                <a:lnTo>
                  <a:pt x="2499792" y="3067230"/>
                </a:lnTo>
                <a:lnTo>
                  <a:pt x="0" y="3067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895350" y="1550670"/>
            <a:ext cx="4762500" cy="147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Solución</a:t>
            </a:r>
          </a:p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propuesta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13005" y="1407795"/>
            <a:ext cx="10210800" cy="19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Desarrollo de una plataforma web que digitaliza el proceso de levantamiento eléctrico, permitiendo a los técnicos registrar datos del inmueble, generar fichas digitales y elaborar cotizaciones de forma rápida y estandarizada.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17285447" cy="2352675"/>
            <a:chOff x="0" y="0"/>
            <a:chExt cx="23047262" cy="313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047263" cy="3136900"/>
            </a:xfrm>
            <a:custGeom>
              <a:avLst/>
              <a:gdLst/>
              <a:ahLst/>
              <a:cxnLst/>
              <a:rect l="l" t="t" r="r" b="b"/>
              <a:pathLst>
                <a:path w="23047263" h="3136900">
                  <a:moveTo>
                    <a:pt x="0" y="0"/>
                  </a:moveTo>
                  <a:lnTo>
                    <a:pt x="23047263" y="0"/>
                  </a:lnTo>
                  <a:lnTo>
                    <a:pt x="23047263" y="3136900"/>
                  </a:lnTo>
                  <a:lnTo>
                    <a:pt x="0" y="31369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047262" cy="317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95885" y="1337310"/>
            <a:ext cx="1329623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Metodología y planificación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23282" y="2307907"/>
            <a:ext cx="9041436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633433" y="3119091"/>
            <a:ext cx="17202150" cy="134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utilizará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metodología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ágil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Scrum,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organizando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desarrollo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5 sprints de 2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semanas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uno. Cada Sprint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entrega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funcionalidad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concreta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del MVP, con dos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hitos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avance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demo intermedia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semana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6 y el MVP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completo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semana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8.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33628" y="5829143"/>
            <a:ext cx="10160339" cy="488430"/>
            <a:chOff x="0" y="0"/>
            <a:chExt cx="9510698" cy="457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10698" cy="457200"/>
            </a:xfrm>
            <a:custGeom>
              <a:avLst/>
              <a:gdLst/>
              <a:ahLst/>
              <a:cxnLst/>
              <a:rect l="l" t="t" r="r" b="b"/>
              <a:pathLst>
                <a:path w="9510698" h="457200">
                  <a:moveTo>
                    <a:pt x="0" y="0"/>
                  </a:moveTo>
                  <a:lnTo>
                    <a:pt x="9510698" y="0"/>
                  </a:lnTo>
                  <a:lnTo>
                    <a:pt x="9510698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510698" cy="4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47007" y="5828494"/>
            <a:ext cx="1460060" cy="41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Semanas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05466" y="5828494"/>
            <a:ext cx="8403272" cy="42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242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Actividad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33628" y="6317573"/>
            <a:ext cx="10160339" cy="434160"/>
            <a:chOff x="0" y="0"/>
            <a:chExt cx="9510698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03670" y="626384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07068" y="6358878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Proyecto Next.js + supabase, log in, clientes.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33628" y="6751733"/>
            <a:ext cx="10160339" cy="434160"/>
            <a:chOff x="0" y="0"/>
            <a:chExt cx="9510698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EEEF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03670" y="669800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07068" y="6793037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Viviendas y creación de levantamientos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33628" y="7185892"/>
            <a:ext cx="10160339" cy="434160"/>
            <a:chOff x="0" y="0"/>
            <a:chExt cx="9510698" cy="406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03670" y="713216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07068" y="7227197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Formulario de ítems eléctricos (Demo intermedio)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33628" y="7620052"/>
            <a:ext cx="10160339" cy="434160"/>
            <a:chOff x="0" y="0"/>
            <a:chExt cx="9510698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EEEF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3670" y="7566326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07068" y="7661357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Materiales, trabajos y ficha digital (MVP)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33628" y="8081347"/>
            <a:ext cx="10160339" cy="434160"/>
            <a:chOff x="0" y="0"/>
            <a:chExt cx="9510698" cy="406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03670" y="8000486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07068" y="8095516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IA e historial (actual vs recomendado)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36936" y="4436587"/>
            <a:ext cx="239061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A1A2E"/>
                </a:solidFill>
                <a:latin typeface="Roboto Bold"/>
                <a:ea typeface="Roboto Bold"/>
                <a:cs typeface="Roboto Bold"/>
                <a:sym typeface="Roboto Bold"/>
              </a:rPr>
              <a:t>Roles del equipo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093715" y="4848017"/>
            <a:ext cx="6483770" cy="1428750"/>
            <a:chOff x="0" y="0"/>
            <a:chExt cx="8645027" cy="1905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645027" cy="1905000"/>
            </a:xfrm>
            <a:custGeom>
              <a:avLst/>
              <a:gdLst/>
              <a:ahLst/>
              <a:cxnLst/>
              <a:rect l="l" t="t" r="r" b="b"/>
              <a:pathLst>
                <a:path w="8645027" h="1905000">
                  <a:moveTo>
                    <a:pt x="351424" y="0"/>
                  </a:moveTo>
                  <a:lnTo>
                    <a:pt x="8293603" y="0"/>
                  </a:lnTo>
                  <a:cubicBezTo>
                    <a:pt x="8487689" y="0"/>
                    <a:pt x="8645027" y="85290"/>
                    <a:pt x="8645027" y="190500"/>
                  </a:cubicBezTo>
                  <a:lnTo>
                    <a:pt x="8645027" y="1714500"/>
                  </a:lnTo>
                  <a:cubicBezTo>
                    <a:pt x="8645027" y="1819710"/>
                    <a:pt x="8487689" y="1905000"/>
                    <a:pt x="8293603" y="1905000"/>
                  </a:cubicBezTo>
                  <a:lnTo>
                    <a:pt x="351424" y="1905000"/>
                  </a:lnTo>
                  <a:cubicBezTo>
                    <a:pt x="15733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57338" y="0"/>
                    <a:pt x="3514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645027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200777" y="4943267"/>
            <a:ext cx="6180915" cy="266700"/>
            <a:chOff x="0" y="0"/>
            <a:chExt cx="8241220" cy="355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241219" cy="355600"/>
            </a:xfrm>
            <a:custGeom>
              <a:avLst/>
              <a:gdLst/>
              <a:ahLst/>
              <a:cxnLst/>
              <a:rect l="l" t="t" r="r" b="b"/>
              <a:pathLst>
                <a:path w="8241219" h="355600">
                  <a:moveTo>
                    <a:pt x="7906793" y="0"/>
                  </a:moveTo>
                  <a:cubicBezTo>
                    <a:pt x="8091492" y="0"/>
                    <a:pt x="8241219" y="79604"/>
                    <a:pt x="8241219" y="177800"/>
                  </a:cubicBezTo>
                  <a:cubicBezTo>
                    <a:pt x="8241219" y="275996"/>
                    <a:pt x="8091492" y="355600"/>
                    <a:pt x="7906793" y="355600"/>
                  </a:cubicBezTo>
                  <a:lnTo>
                    <a:pt x="334426" y="355600"/>
                  </a:lnTo>
                  <a:cubicBezTo>
                    <a:pt x="149728" y="355600"/>
                    <a:pt x="0" y="275996"/>
                    <a:pt x="0" y="177800"/>
                  </a:cubicBezTo>
                  <a:cubicBezTo>
                    <a:pt x="0" y="79604"/>
                    <a:pt x="149728" y="0"/>
                    <a:pt x="334426" y="0"/>
                  </a:cubicBez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824122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515424" y="4919968"/>
            <a:ext cx="3650213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Cesar Moreno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86998" y="5249864"/>
            <a:ext cx="5920213" cy="65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89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Frontend, diseño de interfaces, experiencia de usuario y documentación.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1093715" y="6448425"/>
            <a:ext cx="6483770" cy="1428750"/>
            <a:chOff x="0" y="0"/>
            <a:chExt cx="8645027" cy="1905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645027" cy="1905000"/>
            </a:xfrm>
            <a:custGeom>
              <a:avLst/>
              <a:gdLst/>
              <a:ahLst/>
              <a:cxnLst/>
              <a:rect l="l" t="t" r="r" b="b"/>
              <a:pathLst>
                <a:path w="8645027" h="1905000">
                  <a:moveTo>
                    <a:pt x="351424" y="0"/>
                  </a:moveTo>
                  <a:lnTo>
                    <a:pt x="8293603" y="0"/>
                  </a:lnTo>
                  <a:cubicBezTo>
                    <a:pt x="8487689" y="0"/>
                    <a:pt x="8645027" y="85290"/>
                    <a:pt x="8645027" y="190500"/>
                  </a:cubicBezTo>
                  <a:lnTo>
                    <a:pt x="8645027" y="1714500"/>
                  </a:lnTo>
                  <a:cubicBezTo>
                    <a:pt x="8645027" y="1819710"/>
                    <a:pt x="8487689" y="1905000"/>
                    <a:pt x="8293603" y="1905000"/>
                  </a:cubicBezTo>
                  <a:lnTo>
                    <a:pt x="351424" y="1905000"/>
                  </a:lnTo>
                  <a:cubicBezTo>
                    <a:pt x="15733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57338" y="0"/>
                    <a:pt x="3514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645027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304570" y="6543675"/>
            <a:ext cx="6062061" cy="266700"/>
            <a:chOff x="0" y="0"/>
            <a:chExt cx="8082748" cy="355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082748" cy="355600"/>
            </a:xfrm>
            <a:custGeom>
              <a:avLst/>
              <a:gdLst/>
              <a:ahLst/>
              <a:cxnLst/>
              <a:rect l="l" t="t" r="r" b="b"/>
              <a:pathLst>
                <a:path w="8082748" h="355600">
                  <a:moveTo>
                    <a:pt x="7754753" y="0"/>
                  </a:moveTo>
                  <a:cubicBezTo>
                    <a:pt x="7935900" y="0"/>
                    <a:pt x="8082748" y="79604"/>
                    <a:pt x="8082748" y="177800"/>
                  </a:cubicBezTo>
                  <a:cubicBezTo>
                    <a:pt x="8082748" y="275996"/>
                    <a:pt x="7935900" y="355600"/>
                    <a:pt x="7754753" y="355600"/>
                  </a:cubicBezTo>
                  <a:lnTo>
                    <a:pt x="327996" y="355600"/>
                  </a:lnTo>
                  <a:cubicBezTo>
                    <a:pt x="146849" y="355600"/>
                    <a:pt x="0" y="275996"/>
                    <a:pt x="0" y="177800"/>
                  </a:cubicBezTo>
                  <a:cubicBezTo>
                    <a:pt x="0" y="79604"/>
                    <a:pt x="146849" y="0"/>
                    <a:pt x="327996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8082748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515424" y="6534824"/>
            <a:ext cx="6062061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Marcelo Tapia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86998" y="6917707"/>
            <a:ext cx="606206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Backend, base de datos, seguridad y despliegue.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1093715" y="8048625"/>
            <a:ext cx="6483770" cy="1428750"/>
            <a:chOff x="0" y="0"/>
            <a:chExt cx="8645027" cy="1905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645027" cy="1905000"/>
            </a:xfrm>
            <a:custGeom>
              <a:avLst/>
              <a:gdLst/>
              <a:ahLst/>
              <a:cxnLst/>
              <a:rect l="l" t="t" r="r" b="b"/>
              <a:pathLst>
                <a:path w="8645027" h="1905000">
                  <a:moveTo>
                    <a:pt x="351424" y="0"/>
                  </a:moveTo>
                  <a:lnTo>
                    <a:pt x="8293603" y="0"/>
                  </a:lnTo>
                  <a:cubicBezTo>
                    <a:pt x="8487689" y="0"/>
                    <a:pt x="8645027" y="85290"/>
                    <a:pt x="8645027" y="190500"/>
                  </a:cubicBezTo>
                  <a:lnTo>
                    <a:pt x="8645027" y="1714500"/>
                  </a:lnTo>
                  <a:cubicBezTo>
                    <a:pt x="8645027" y="1819710"/>
                    <a:pt x="8487689" y="1905000"/>
                    <a:pt x="8293603" y="1905000"/>
                  </a:cubicBezTo>
                  <a:lnTo>
                    <a:pt x="351424" y="1905000"/>
                  </a:lnTo>
                  <a:cubicBezTo>
                    <a:pt x="15733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57338" y="0"/>
                    <a:pt x="3514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8645027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304570" y="8143875"/>
            <a:ext cx="6062061" cy="266700"/>
            <a:chOff x="0" y="0"/>
            <a:chExt cx="8082748" cy="355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082748" cy="355600"/>
            </a:xfrm>
            <a:custGeom>
              <a:avLst/>
              <a:gdLst/>
              <a:ahLst/>
              <a:cxnLst/>
              <a:rect l="l" t="t" r="r" b="b"/>
              <a:pathLst>
                <a:path w="8082748" h="355600">
                  <a:moveTo>
                    <a:pt x="7754753" y="0"/>
                  </a:moveTo>
                  <a:cubicBezTo>
                    <a:pt x="7935900" y="0"/>
                    <a:pt x="8082748" y="79604"/>
                    <a:pt x="8082748" y="177800"/>
                  </a:cubicBezTo>
                  <a:cubicBezTo>
                    <a:pt x="8082748" y="275996"/>
                    <a:pt x="7935900" y="355600"/>
                    <a:pt x="7754753" y="355600"/>
                  </a:cubicBezTo>
                  <a:lnTo>
                    <a:pt x="327996" y="355600"/>
                  </a:lnTo>
                  <a:cubicBezTo>
                    <a:pt x="146849" y="355600"/>
                    <a:pt x="0" y="275996"/>
                    <a:pt x="0" y="177800"/>
                  </a:cubicBezTo>
                  <a:cubicBezTo>
                    <a:pt x="0" y="79604"/>
                    <a:pt x="146849" y="0"/>
                    <a:pt x="327996" y="0"/>
                  </a:cubicBez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8082748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515424" y="8081327"/>
            <a:ext cx="583363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Equipo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304570" y="8517890"/>
            <a:ext cx="6062061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Análisis de requerimientos, pruebas, revisión del avance y presentación.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33433" y="5828494"/>
            <a:ext cx="1471839" cy="42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242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205466" y="626384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1-2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205466" y="669800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3-4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205466" y="7167024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5-6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05466" y="7593461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7-8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205466" y="8057388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9-10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514350"/>
            <a:ext cx="17202150" cy="2136879"/>
            <a:chOff x="0" y="0"/>
            <a:chExt cx="22936200" cy="28491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36200" cy="2849172"/>
            </a:xfrm>
            <a:custGeom>
              <a:avLst/>
              <a:gdLst/>
              <a:ahLst/>
              <a:cxnLst/>
              <a:rect l="l" t="t" r="r" b="b"/>
              <a:pathLst>
                <a:path w="22936200" h="2849172">
                  <a:moveTo>
                    <a:pt x="0" y="0"/>
                  </a:moveTo>
                  <a:lnTo>
                    <a:pt x="22936200" y="0"/>
                  </a:lnTo>
                  <a:lnTo>
                    <a:pt x="22936200" y="2849172"/>
                  </a:lnTo>
                  <a:lnTo>
                    <a:pt x="0" y="2849172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936200" cy="2887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80130" y="1018433"/>
            <a:ext cx="812774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tecnológica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380568" y="2170958"/>
            <a:ext cx="5526863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6" name="Group 16"/>
          <p:cNvGrpSpPr/>
          <p:nvPr/>
        </p:nvGrpSpPr>
        <p:grpSpPr>
          <a:xfrm>
            <a:off x="3628574" y="3643502"/>
            <a:ext cx="11030851" cy="4969607"/>
            <a:chOff x="0" y="0"/>
            <a:chExt cx="14707802" cy="662614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4707802" cy="828268"/>
              <a:chOff x="0" y="0"/>
              <a:chExt cx="11726923" cy="660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2F0087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55568"/>
              <a:ext cx="3743804" cy="63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285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Capa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3804" y="55568"/>
              <a:ext cx="5080877" cy="63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285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Tecnología posible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24681" y="55568"/>
              <a:ext cx="5883121" cy="63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285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Función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0" y="828268"/>
              <a:ext cx="14707802" cy="828268"/>
              <a:chOff x="0" y="0"/>
              <a:chExt cx="11726923" cy="660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0" y="984169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Frontend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43804" y="993645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Next.js + React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24681" y="993694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Interfaces y formularios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1656536"/>
              <a:ext cx="14707802" cy="828268"/>
              <a:chOff x="0" y="0"/>
              <a:chExt cx="11726923" cy="660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EEEF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1812437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Backend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3804" y="1821913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Next.js (API Routes)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24681" y="1821962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Lógica del sistema y API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0" y="2484803"/>
              <a:ext cx="14707802" cy="828268"/>
              <a:chOff x="0" y="0"/>
              <a:chExt cx="11726923" cy="660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0" y="2640704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Base de datos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43804" y="2650229"/>
              <a:ext cx="5080877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4681" y="2650229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Almacenamiento de información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0" y="3313071"/>
              <a:ext cx="14707802" cy="828268"/>
              <a:chOff x="0" y="0"/>
              <a:chExt cx="11726923" cy="660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EEEF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0" y="3468972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Autenticación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43804" y="3478449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Supabase Auth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24681" y="3478497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Control de acceso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0" y="4141339"/>
              <a:ext cx="14707802" cy="828268"/>
              <a:chOff x="0" y="0"/>
              <a:chExt cx="11726923" cy="6604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0" y="4297240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Diseño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43804" y="4306717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Figma o Canva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24681" y="4306765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Creación del mockup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0" y="4969607"/>
              <a:ext cx="14707802" cy="828268"/>
              <a:chOff x="0" y="0"/>
              <a:chExt cx="11726923" cy="6604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EEEF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0" y="5125508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Control de versiones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43804" y="5135033"/>
              <a:ext cx="5080877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GitHub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24681" y="5135033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Trabajo colaborativo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0" y="5797874"/>
              <a:ext cx="14707802" cy="828268"/>
              <a:chOff x="0" y="0"/>
              <a:chExt cx="11726923" cy="6604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0" y="5953775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Despliegue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43804" y="5963252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Vercel 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24681" y="5963300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Publicación del MVP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514350"/>
            <a:ext cx="17285447" cy="2352675"/>
            <a:chOff x="0" y="0"/>
            <a:chExt cx="23047262" cy="3136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7263" cy="3136900"/>
            </a:xfrm>
            <a:custGeom>
              <a:avLst/>
              <a:gdLst/>
              <a:ahLst/>
              <a:cxnLst/>
              <a:rect l="l" t="t" r="r" b="b"/>
              <a:pathLst>
                <a:path w="23047263" h="3136900">
                  <a:moveTo>
                    <a:pt x="0" y="0"/>
                  </a:moveTo>
                  <a:lnTo>
                    <a:pt x="23047263" y="0"/>
                  </a:lnTo>
                  <a:lnTo>
                    <a:pt x="23047263" y="3136900"/>
                  </a:lnTo>
                  <a:lnTo>
                    <a:pt x="0" y="31369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7262" cy="317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6812" y="3001537"/>
            <a:ext cx="16480523" cy="6881421"/>
          </a:xfrm>
          <a:custGeom>
            <a:avLst/>
            <a:gdLst/>
            <a:ahLst/>
            <a:cxnLst/>
            <a:rect l="l" t="t" r="r" b="b"/>
            <a:pathLst>
              <a:path w="16480523" h="6881421">
                <a:moveTo>
                  <a:pt x="0" y="0"/>
                </a:moveTo>
                <a:lnTo>
                  <a:pt x="16480523" y="0"/>
                </a:lnTo>
                <a:lnTo>
                  <a:pt x="16480523" y="6881420"/>
                </a:lnTo>
                <a:lnTo>
                  <a:pt x="0" y="6881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61" b="-72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4337671" y="1076325"/>
            <a:ext cx="10084198" cy="855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0"/>
              </a:lnSpc>
            </a:pPr>
            <a:r>
              <a:rPr lang="en-US" sz="595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5350" y="1428865"/>
            <a:ext cx="4762500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Competencias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657350" y="2340632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6" name="Group 16"/>
          <p:cNvGrpSpPr/>
          <p:nvPr/>
        </p:nvGrpSpPr>
        <p:grpSpPr>
          <a:xfrm>
            <a:off x="6667500" y="1028700"/>
            <a:ext cx="419100" cy="419100"/>
            <a:chOff x="0" y="0"/>
            <a:chExt cx="558800" cy="55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0" y="1838325"/>
            <a:ext cx="419100" cy="419100"/>
            <a:chOff x="0" y="0"/>
            <a:chExt cx="558800" cy="558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0" y="2647950"/>
            <a:ext cx="419100" cy="419100"/>
            <a:chOff x="0" y="0"/>
            <a:chExt cx="558800" cy="558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67500" y="3457575"/>
            <a:ext cx="419100" cy="419100"/>
            <a:chOff x="0" y="0"/>
            <a:chExt cx="558800" cy="558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0" y="4267200"/>
            <a:ext cx="419100" cy="419100"/>
            <a:chOff x="0" y="0"/>
            <a:chExt cx="558800" cy="558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67500" y="5076825"/>
            <a:ext cx="419100" cy="419100"/>
            <a:chOff x="0" y="0"/>
            <a:chExt cx="558800" cy="55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0" y="5886450"/>
            <a:ext cx="419100" cy="419100"/>
            <a:chOff x="0" y="0"/>
            <a:chExt cx="558800" cy="558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0" y="6696075"/>
            <a:ext cx="419100" cy="419100"/>
            <a:chOff x="0" y="0"/>
            <a:chExt cx="558800" cy="558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0" y="7505700"/>
            <a:ext cx="419100" cy="419100"/>
            <a:chOff x="0" y="0"/>
            <a:chExt cx="558800" cy="558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0" y="8315325"/>
            <a:ext cx="419100" cy="419100"/>
            <a:chOff x="0" y="0"/>
            <a:chExt cx="558800" cy="558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669228" y="3159297"/>
            <a:ext cx="3214744" cy="3054007"/>
          </a:xfrm>
          <a:custGeom>
            <a:avLst/>
            <a:gdLst/>
            <a:ahLst/>
            <a:cxnLst/>
            <a:rect l="l" t="t" r="r" b="b"/>
            <a:pathLst>
              <a:path w="3214744" h="3054007">
                <a:moveTo>
                  <a:pt x="0" y="0"/>
                </a:moveTo>
                <a:lnTo>
                  <a:pt x="3214744" y="0"/>
                </a:lnTo>
                <a:lnTo>
                  <a:pt x="3214744" y="3054006"/>
                </a:lnTo>
                <a:lnTo>
                  <a:pt x="0" y="3054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7" name="TextBox 47"/>
          <p:cNvSpPr txBox="1"/>
          <p:nvPr/>
        </p:nvSpPr>
        <p:spPr>
          <a:xfrm>
            <a:off x="6667500" y="103408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39000" y="103822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Analizar una problemática real y levantar requerimientos.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67500" y="184370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39000" y="184785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Diseñar una solución informática.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67500" y="265333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239000" y="265747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Desarrollar una aplicación web.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67500" y="346295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39000" y="346710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Diseñar y administrar una base de datos.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67500" y="427258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239000" y="427672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Integrar frontend, backend y servicios.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67500" y="508220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39000" y="508635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Aplicar medidas básicas de ciberseguridad.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667500" y="589183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239000" y="589597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Gestionar un proyecto tecnológico.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67500" y="670145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39000" y="670560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Trabajar colaborativamente.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667500" y="751108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09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239000" y="751522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Realizar pruebas y documentar la solución.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667500" y="832070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239000" y="832485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Comunicar una propuesta técnica a usuarios no especializados.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271712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7440259" y="1179830"/>
            <a:ext cx="8572500" cy="476250"/>
            <a:chOff x="0" y="0"/>
            <a:chExt cx="11430000" cy="63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30000" cy="635000"/>
            </a:xfrm>
            <a:custGeom>
              <a:avLst/>
              <a:gdLst/>
              <a:ahLst/>
              <a:cxnLst/>
              <a:rect l="l" t="t" r="r" b="b"/>
              <a:pathLst>
                <a:path w="11430000" h="635000">
                  <a:moveTo>
                    <a:pt x="0" y="0"/>
                  </a:moveTo>
                  <a:lnTo>
                    <a:pt x="11430000" y="0"/>
                  </a:lnTo>
                  <a:lnTo>
                    <a:pt x="11430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430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40259" y="1656080"/>
            <a:ext cx="8572500" cy="952500"/>
            <a:chOff x="0" y="0"/>
            <a:chExt cx="11430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0259" y="2608580"/>
            <a:ext cx="8572500" cy="952500"/>
            <a:chOff x="0" y="0"/>
            <a:chExt cx="11430000" cy="127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40259" y="3561080"/>
            <a:ext cx="8572500" cy="952500"/>
            <a:chOff x="0" y="0"/>
            <a:chExt cx="11430000" cy="127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40259" y="4513580"/>
            <a:ext cx="8572500" cy="952500"/>
            <a:chOff x="0" y="0"/>
            <a:chExt cx="11430000" cy="127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40259" y="5466080"/>
            <a:ext cx="8572500" cy="952500"/>
            <a:chOff x="0" y="0"/>
            <a:chExt cx="11430000" cy="127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40259" y="6418580"/>
            <a:ext cx="8572500" cy="952500"/>
            <a:chOff x="0" y="0"/>
            <a:chExt cx="11430000" cy="127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40259" y="7371080"/>
            <a:ext cx="8572500" cy="952500"/>
            <a:chOff x="0" y="0"/>
            <a:chExt cx="11430000" cy="1270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674471" y="3305441"/>
            <a:ext cx="3204257" cy="2723619"/>
          </a:xfrm>
          <a:custGeom>
            <a:avLst/>
            <a:gdLst/>
            <a:ahLst/>
            <a:cxnLst/>
            <a:rect l="l" t="t" r="r" b="b"/>
            <a:pathLst>
              <a:path w="3204257" h="2723619">
                <a:moveTo>
                  <a:pt x="0" y="0"/>
                </a:moveTo>
                <a:lnTo>
                  <a:pt x="3204258" y="0"/>
                </a:lnTo>
                <a:lnTo>
                  <a:pt x="3204258" y="2723618"/>
                </a:lnTo>
                <a:lnTo>
                  <a:pt x="0" y="2723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0" name="TextBox 40"/>
          <p:cNvSpPr txBox="1"/>
          <p:nvPr/>
        </p:nvSpPr>
        <p:spPr>
          <a:xfrm>
            <a:off x="895350" y="1433512"/>
            <a:ext cx="4762500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Riesgos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54559" y="1244315"/>
            <a:ext cx="2476500" cy="28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Riesgo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21559" y="1244315"/>
            <a:ext cx="2095500" cy="28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Impacto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507559" y="1244315"/>
            <a:ext cx="3429000" cy="28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Mitigación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54559" y="2005012"/>
            <a:ext cx="2476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Alcance demasiado amplio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21559" y="2005012"/>
            <a:ext cx="2095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No completar el MVP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07559" y="2005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Priorizar funciones esenciales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54559" y="28384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Poco conocimiento del proceso eléctrico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21559" y="28384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Requerimientos incorrectos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507559" y="2838450"/>
            <a:ext cx="34290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Entrevistar y validar con técnicos eléctricos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54559" y="3910012"/>
            <a:ext cx="2476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Retrasos en el desarrollo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221559" y="37909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Incumplimiento del plazo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507559" y="3910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Planificación semanal y seguimiento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54559" y="4862512"/>
            <a:ext cx="2476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Problemas de integración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21559" y="47434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Errores entre frontend y backend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07559" y="4743450"/>
            <a:ext cx="34290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Integrar y probar desde etapas tempranas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54559" y="56959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Pérdida o modificación de datos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21559" y="56959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Información poco confiable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507559" y="5815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Validaciones y respaldos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54559" y="66484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Fallas de conexión durante la visita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21559" y="66484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Dificultad para registrar datos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507559" y="6648450"/>
            <a:ext cx="34290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Diseño liviano y evaluar guardado temporal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54559" y="76009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Falta de pruebas con usuarios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21559" y="76009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Plataforma difícil de utilizar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507559" y="7720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Realizar pruebas con técnicos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440259" y="8305800"/>
            <a:ext cx="8572500" cy="952500"/>
            <a:chOff x="0" y="0"/>
            <a:chExt cx="11430000" cy="1270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554559" y="857123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Dependencia de servicios externos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221559" y="8305800"/>
            <a:ext cx="209550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Interrupciones o límites del plan gratuito que afecten el funcionamiento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526609" y="8452167"/>
            <a:ext cx="34290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Monitorear límites de uso, tener claro el plan de respaldo si se agota la cuota gratuita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310673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6477000" y="952500"/>
            <a:ext cx="5048250" cy="1524000"/>
            <a:chOff x="0" y="0"/>
            <a:chExt cx="6731000" cy="2032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77000" y="2571750"/>
            <a:ext cx="5048250" cy="1524000"/>
            <a:chOff x="0" y="0"/>
            <a:chExt cx="6731000" cy="2032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0" y="4191000"/>
            <a:ext cx="5048250" cy="1524000"/>
            <a:chOff x="0" y="0"/>
            <a:chExt cx="6731000" cy="203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5810250"/>
            <a:ext cx="5048250" cy="1524000"/>
            <a:chOff x="0" y="0"/>
            <a:chExt cx="6731000" cy="2032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77000" y="7429500"/>
            <a:ext cx="5048250" cy="1524000"/>
            <a:chOff x="0" y="0"/>
            <a:chExt cx="6731000" cy="2032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06250" y="952500"/>
            <a:ext cx="5048250" cy="1524000"/>
            <a:chOff x="0" y="0"/>
            <a:chExt cx="6731000" cy="2032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906250" y="2571750"/>
            <a:ext cx="5048250" cy="1524000"/>
            <a:chOff x="0" y="0"/>
            <a:chExt cx="6731000" cy="2032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06250" y="4191000"/>
            <a:ext cx="5048250" cy="1524000"/>
            <a:chOff x="0" y="0"/>
            <a:chExt cx="6731000" cy="2032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906250" y="5810250"/>
            <a:ext cx="5048250" cy="1524000"/>
            <a:chOff x="0" y="0"/>
            <a:chExt cx="6731000" cy="2032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906250" y="7429500"/>
            <a:ext cx="5048250" cy="1524000"/>
            <a:chOff x="0" y="0"/>
            <a:chExt cx="6731000" cy="2032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926644" y="3069590"/>
            <a:ext cx="2699912" cy="2699912"/>
          </a:xfrm>
          <a:custGeom>
            <a:avLst/>
            <a:gdLst/>
            <a:ahLst/>
            <a:cxnLst/>
            <a:rect l="l" t="t" r="r" b="b"/>
            <a:pathLst>
              <a:path w="2699912" h="2699912">
                <a:moveTo>
                  <a:pt x="0" y="0"/>
                </a:moveTo>
                <a:lnTo>
                  <a:pt x="2699912" y="0"/>
                </a:lnTo>
                <a:lnTo>
                  <a:pt x="2699912" y="2699912"/>
                </a:lnTo>
                <a:lnTo>
                  <a:pt x="0" y="2699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6" name="TextBox 46"/>
          <p:cNvSpPr txBox="1"/>
          <p:nvPr/>
        </p:nvSpPr>
        <p:spPr>
          <a:xfrm>
            <a:off x="895350" y="1329598"/>
            <a:ext cx="4762500" cy="88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2"/>
              </a:lnSpc>
            </a:pPr>
            <a:r>
              <a:rPr lang="en-US" sz="519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Seguridad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15125" y="1181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19975" y="1268095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Autenticación mediante correo y contraseña.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15125" y="28003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🔑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19975" y="3044541"/>
            <a:ext cx="391477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Contraseñas cifradas.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15125" y="44196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19975" y="4663774"/>
            <a:ext cx="3914775" cy="2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Roles y permisos de acceso.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15125" y="60388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🌐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19975" y="6283041"/>
            <a:ext cx="391477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Uso de HTTPS.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715125" y="7658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19975" y="7902274"/>
            <a:ext cx="3914775" cy="2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Validación de los datos ingresados.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144375" y="1181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🛡️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849225" y="1268095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Protección contra accesos no autorizados.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144375" y="28003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⏱️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49225" y="3044541"/>
            <a:ext cx="391477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Control de sesiones.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144375" y="44196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💾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849225" y="4663774"/>
            <a:ext cx="3914775" cy="2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Respaldo de la base de datos.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144375" y="60388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📋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849225" y="6249670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Registro de fecha y usuario responsable de cada levantamiento.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144375" y="7658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🔒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849225" y="7868920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Protección de información personal de clientes y viviendas.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3768" y="-639839"/>
            <a:ext cx="95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514350" y="514350"/>
            <a:ext cx="17285447" cy="2352675"/>
            <a:chOff x="0" y="0"/>
            <a:chExt cx="23047262" cy="3136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047263" cy="3136900"/>
            </a:xfrm>
            <a:custGeom>
              <a:avLst/>
              <a:gdLst/>
              <a:ahLst/>
              <a:cxnLst/>
              <a:rect l="l" t="t" r="r" b="b"/>
              <a:pathLst>
                <a:path w="23047263" h="3136900">
                  <a:moveTo>
                    <a:pt x="0" y="0"/>
                  </a:moveTo>
                  <a:lnTo>
                    <a:pt x="23047263" y="0"/>
                  </a:lnTo>
                  <a:lnTo>
                    <a:pt x="23047263" y="3136900"/>
                  </a:lnTo>
                  <a:lnTo>
                    <a:pt x="0" y="31369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047262" cy="317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16290" y="1338863"/>
            <a:ext cx="11681566" cy="7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515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Estructura por fases del proceso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8079" y="4260695"/>
            <a:ext cx="3938030" cy="5790976"/>
            <a:chOff x="0" y="0"/>
            <a:chExt cx="1037177" cy="15251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7177" cy="1525195"/>
            </a:xfrm>
            <a:custGeom>
              <a:avLst/>
              <a:gdLst/>
              <a:ahLst/>
              <a:cxnLst/>
              <a:rect l="l" t="t" r="r" b="b"/>
              <a:pathLst>
                <a:path w="1037177" h="1525195">
                  <a:moveTo>
                    <a:pt x="0" y="0"/>
                  </a:moveTo>
                  <a:lnTo>
                    <a:pt x="1037177" y="0"/>
                  </a:lnTo>
                  <a:lnTo>
                    <a:pt x="1037177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037177" cy="155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69718" y="4671375"/>
            <a:ext cx="2617703" cy="382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803" lvl="1" indent="-244402" algn="l">
              <a:lnSpc>
                <a:spcPts val="3169"/>
              </a:lnSpc>
              <a:spcBef>
                <a:spcPct val="0"/>
              </a:spcBef>
              <a:buAutoNum type="arabicPeriod"/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988987" y="4260695"/>
            <a:ext cx="3959328" cy="5790976"/>
            <a:chOff x="0" y="0"/>
            <a:chExt cx="1042786" cy="15251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2786" cy="1525195"/>
            </a:xfrm>
            <a:custGeom>
              <a:avLst/>
              <a:gdLst/>
              <a:ahLst/>
              <a:cxnLst/>
              <a:rect l="l" t="t" r="r" b="b"/>
              <a:pathLst>
                <a:path w="1042786" h="1525195">
                  <a:moveTo>
                    <a:pt x="0" y="0"/>
                  </a:moveTo>
                  <a:lnTo>
                    <a:pt x="1042786" y="0"/>
                  </a:lnTo>
                  <a:lnTo>
                    <a:pt x="1042786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042786" cy="155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9790" y="4260695"/>
            <a:ext cx="3959328" cy="5790976"/>
            <a:chOff x="0" y="0"/>
            <a:chExt cx="1042786" cy="15251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2786" cy="1525195"/>
            </a:xfrm>
            <a:custGeom>
              <a:avLst/>
              <a:gdLst/>
              <a:ahLst/>
              <a:cxnLst/>
              <a:rect l="l" t="t" r="r" b="b"/>
              <a:pathLst>
                <a:path w="1042786" h="1525195">
                  <a:moveTo>
                    <a:pt x="0" y="0"/>
                  </a:moveTo>
                  <a:lnTo>
                    <a:pt x="1042786" y="0"/>
                  </a:lnTo>
                  <a:lnTo>
                    <a:pt x="1042786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42786" cy="1563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0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50593" y="4260695"/>
            <a:ext cx="3959328" cy="5790976"/>
            <a:chOff x="0" y="0"/>
            <a:chExt cx="1042786" cy="15251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2786" cy="1525195"/>
            </a:xfrm>
            <a:custGeom>
              <a:avLst/>
              <a:gdLst/>
              <a:ahLst/>
              <a:cxnLst/>
              <a:rect l="l" t="t" r="r" b="b"/>
              <a:pathLst>
                <a:path w="1042786" h="1525195">
                  <a:moveTo>
                    <a:pt x="0" y="0"/>
                  </a:moveTo>
                  <a:lnTo>
                    <a:pt x="1042786" y="0"/>
                  </a:lnTo>
                  <a:lnTo>
                    <a:pt x="1042786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042786" cy="155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219006" y="4658041"/>
            <a:ext cx="3175244" cy="38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4401" lvl="1" algn="l">
              <a:lnSpc>
                <a:spcPts val="3169"/>
              </a:lnSpc>
              <a:spcBef>
                <a:spcPct val="0"/>
              </a:spcBef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propiedad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79822" y="4670970"/>
            <a:ext cx="3036407" cy="382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4401" lvl="1" algn="l">
              <a:lnSpc>
                <a:spcPts val="3169"/>
              </a:lnSpc>
              <a:spcBef>
                <a:spcPct val="0"/>
              </a:spcBef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Trabajo</a:t>
            </a: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técnico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187592" y="4716725"/>
            <a:ext cx="2704771" cy="38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4401" lvl="1" algn="l">
              <a:lnSpc>
                <a:spcPts val="3169"/>
              </a:lnSpc>
              <a:spcBef>
                <a:spcPct val="0"/>
              </a:spcBef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4. Cierre y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entrega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69718" y="5640605"/>
            <a:ext cx="2903239" cy="242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1: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Iniciar</a:t>
            </a: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sesión</a:t>
            </a: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</a:t>
            </a: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credenciales</a:t>
            </a: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técnico</a:t>
            </a: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81028" y="5654970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2: </a:t>
            </a: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077"/>
              </a:lnSpc>
            </a:pPr>
            <a:endParaRPr lang="en-US" sz="219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77"/>
              </a:lnSpc>
            </a:pP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Busca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existente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registra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uno nuevo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1028" y="7762958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3: Vivienda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Asocia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propiedad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al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76988" y="5430056"/>
            <a:ext cx="3039241" cy="114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4: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Levantamiento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Apertura de la visita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76988" y="6834069"/>
            <a:ext cx="3039241" cy="155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5: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Formulario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Tablero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circuitos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luces, etc.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76989" y="8442870"/>
            <a:ext cx="3039241" cy="155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6: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Materiales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Insumos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tareas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servicio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020356" y="5455091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7: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Ficha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resumen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cotizaciones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20355" y="7549689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8: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Historial</a:t>
            </a: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Almacena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registro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completo</a:t>
            </a: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2041750"/>
            <a:chOff x="0" y="0"/>
            <a:chExt cx="23012400" cy="2722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2722333"/>
            </a:xfrm>
            <a:custGeom>
              <a:avLst/>
              <a:gdLst/>
              <a:ahLst/>
              <a:cxnLst/>
              <a:rect l="l" t="t" r="r" b="b"/>
              <a:pathLst>
                <a:path w="23012400" h="2722333">
                  <a:moveTo>
                    <a:pt x="0" y="0"/>
                  </a:moveTo>
                  <a:lnTo>
                    <a:pt x="23012400" y="0"/>
                  </a:lnTo>
                  <a:lnTo>
                    <a:pt x="23012400" y="2722333"/>
                  </a:lnTo>
                  <a:lnTo>
                    <a:pt x="0" y="2722333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2760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50766" y="1192771"/>
            <a:ext cx="15254289" cy="73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7"/>
              </a:lnSpc>
            </a:pPr>
            <a:r>
              <a:rPr lang="en-US" sz="517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Business Model Canvas</a:t>
            </a:r>
          </a:p>
        </p:txBody>
      </p:sp>
      <p:sp>
        <p:nvSpPr>
          <p:cNvPr id="9" name="AutoShape 9"/>
          <p:cNvSpPr/>
          <p:nvPr/>
        </p:nvSpPr>
        <p:spPr>
          <a:xfrm>
            <a:off x="7358661" y="208916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2708906"/>
            <a:ext cx="16084021" cy="6776494"/>
            <a:chOff x="0" y="0"/>
            <a:chExt cx="29329601" cy="12357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329602" cy="12357100"/>
            </a:xfrm>
            <a:custGeom>
              <a:avLst/>
              <a:gdLst/>
              <a:ahLst/>
              <a:cxnLst/>
              <a:rect l="l" t="t" r="r" b="b"/>
              <a:pathLst>
                <a:path w="29329602" h="12357100">
                  <a:moveTo>
                    <a:pt x="0" y="0"/>
                  </a:moveTo>
                  <a:lnTo>
                    <a:pt x="29329602" y="0"/>
                  </a:lnTo>
                  <a:lnTo>
                    <a:pt x="29329602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E0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329601" cy="12414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708906"/>
            <a:ext cx="3214137" cy="4060324"/>
            <a:chOff x="0" y="0"/>
            <a:chExt cx="5861056" cy="7404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1056" cy="7404100"/>
            </a:xfrm>
            <a:custGeom>
              <a:avLst/>
              <a:gdLst/>
              <a:ahLst/>
              <a:cxnLst/>
              <a:rect l="l" t="t" r="r" b="b"/>
              <a:pathLst>
                <a:path w="5861056" h="7404100">
                  <a:moveTo>
                    <a:pt x="0" y="0"/>
                  </a:moveTo>
                  <a:lnTo>
                    <a:pt x="5861056" y="0"/>
                  </a:lnTo>
                  <a:lnTo>
                    <a:pt x="5861056" y="7404100"/>
                  </a:lnTo>
                  <a:lnTo>
                    <a:pt x="0" y="7404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5861056" cy="7461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2667392"/>
            <a:ext cx="3214137" cy="326046"/>
            <a:chOff x="0" y="0"/>
            <a:chExt cx="5861056" cy="5945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62050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8. Socios Clave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787" y="2989881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Empresas eléctricas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Técnicos eléctricos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Proveedores cloud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Proveedores de software/servicios de pago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242837" y="2708906"/>
            <a:ext cx="3214137" cy="2026680"/>
            <a:chOff x="0" y="0"/>
            <a:chExt cx="5861056" cy="3695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42837" y="2667392"/>
            <a:ext cx="3214137" cy="326046"/>
            <a:chOff x="0" y="0"/>
            <a:chExt cx="5861056" cy="5945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371975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 Actividades Clave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70874" y="2989881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Desarrollo y mantenimiento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Soporte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Seguridad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Mejoras de funcionalidades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Gestión de clientes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242837" y="4735586"/>
            <a:ext cx="3214137" cy="2026680"/>
            <a:chOff x="0" y="0"/>
            <a:chExt cx="5861056" cy="36957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2853" y="4695752"/>
            <a:ext cx="3214137" cy="324473"/>
            <a:chOff x="0" y="0"/>
            <a:chExt cx="5861056" cy="59168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61056" cy="591685"/>
            </a:xfrm>
            <a:custGeom>
              <a:avLst/>
              <a:gdLst/>
              <a:ahLst/>
              <a:cxnLst/>
              <a:rect l="l" t="t" r="r" b="b"/>
              <a:pathLst>
                <a:path w="5861056" h="591685">
                  <a:moveTo>
                    <a:pt x="0" y="0"/>
                  </a:moveTo>
                  <a:lnTo>
                    <a:pt x="5861056" y="0"/>
                  </a:lnTo>
                  <a:lnTo>
                    <a:pt x="5861056" y="591685"/>
                  </a:lnTo>
                  <a:lnTo>
                    <a:pt x="0" y="591685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5861056" cy="648835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371975" y="4695825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Recursos Clave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70874" y="5020043"/>
            <a:ext cx="2952750" cy="174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Plataforma web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Infraestructura cloud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Base de datos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Desarrolladores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Conocimiento del proceso eléctrico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456974" y="2708906"/>
            <a:ext cx="3214137" cy="4060324"/>
            <a:chOff x="0" y="0"/>
            <a:chExt cx="5861056" cy="7404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861056" cy="7404100"/>
            </a:xfrm>
            <a:custGeom>
              <a:avLst/>
              <a:gdLst/>
              <a:ahLst/>
              <a:cxnLst/>
              <a:rect l="l" t="t" r="r" b="b"/>
              <a:pathLst>
                <a:path w="5861056" h="7404100">
                  <a:moveTo>
                    <a:pt x="0" y="0"/>
                  </a:moveTo>
                  <a:lnTo>
                    <a:pt x="5861056" y="0"/>
                  </a:lnTo>
                  <a:lnTo>
                    <a:pt x="5861056" y="7404100"/>
                  </a:lnTo>
                  <a:lnTo>
                    <a:pt x="0" y="7404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5861056" cy="7461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456974" y="2667392"/>
            <a:ext cx="3214137" cy="326046"/>
            <a:chOff x="0" y="0"/>
            <a:chExt cx="5861056" cy="5945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91425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Propuesta de Valor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91425" y="2989881"/>
            <a:ext cx="2952750" cy="174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Digitalizar y estandarizar el levantamiento eléctrico en terreno, centralizando la información del cliente y facilitando la elaboración de soluciones y cotizaciones.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671110" y="2708906"/>
            <a:ext cx="3214137" cy="2026680"/>
            <a:chOff x="0" y="0"/>
            <a:chExt cx="5861056" cy="3695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71110" y="2667392"/>
            <a:ext cx="3214137" cy="326046"/>
            <a:chOff x="0" y="0"/>
            <a:chExt cx="5861056" cy="5945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801350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Relación con Clientes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01350" y="2976273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Soporte técnico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Capacitación inicial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Actualizaciones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Acompañamiento durante la implementación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671110" y="4735586"/>
            <a:ext cx="3214137" cy="2026680"/>
            <a:chOff x="0" y="0"/>
            <a:chExt cx="5861056" cy="36957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671110" y="4695752"/>
            <a:ext cx="3214137" cy="324473"/>
            <a:chOff x="0" y="0"/>
            <a:chExt cx="5861056" cy="59168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861056" cy="591685"/>
            </a:xfrm>
            <a:custGeom>
              <a:avLst/>
              <a:gdLst/>
              <a:ahLst/>
              <a:cxnLst/>
              <a:rect l="l" t="t" r="r" b="b"/>
              <a:pathLst>
                <a:path w="5861056" h="591685">
                  <a:moveTo>
                    <a:pt x="0" y="0"/>
                  </a:moveTo>
                  <a:lnTo>
                    <a:pt x="5861056" y="0"/>
                  </a:lnTo>
                  <a:lnTo>
                    <a:pt x="5861056" y="591685"/>
                  </a:lnTo>
                  <a:lnTo>
                    <a:pt x="0" y="591685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5861056" cy="648835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801350" y="4695825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Canales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804460" y="5020043"/>
            <a:ext cx="2952750" cy="115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Plataforma web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Venta directa B2B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Demostraciones a empresas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Contacto comercial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3885247" y="2708906"/>
            <a:ext cx="3214137" cy="4060324"/>
            <a:chOff x="0" y="0"/>
            <a:chExt cx="5861056" cy="74041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61056" cy="7404100"/>
            </a:xfrm>
            <a:custGeom>
              <a:avLst/>
              <a:gdLst/>
              <a:ahLst/>
              <a:cxnLst/>
              <a:rect l="l" t="t" r="r" b="b"/>
              <a:pathLst>
                <a:path w="5861056" h="7404100">
                  <a:moveTo>
                    <a:pt x="0" y="0"/>
                  </a:moveTo>
                  <a:lnTo>
                    <a:pt x="5861056" y="0"/>
                  </a:lnTo>
                  <a:lnTo>
                    <a:pt x="5861056" y="7404100"/>
                  </a:lnTo>
                  <a:lnTo>
                    <a:pt x="0" y="7404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5861056" cy="7461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885247" y="2667392"/>
            <a:ext cx="3214137" cy="326046"/>
            <a:chOff x="0" y="0"/>
            <a:chExt cx="5861056" cy="59455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4020800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Segmento de Clientes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999547" y="3108801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Empresas de servicios eléctricos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Contratistas eléctricos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Técnicos independientes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Empresas de mantenimiento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028700" y="6874005"/>
            <a:ext cx="8028674" cy="2611394"/>
            <a:chOff x="0" y="0"/>
            <a:chExt cx="14640481" cy="47619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640482" cy="4761940"/>
            </a:xfrm>
            <a:custGeom>
              <a:avLst/>
              <a:gdLst/>
              <a:ahLst/>
              <a:cxnLst/>
              <a:rect l="l" t="t" r="r" b="b"/>
              <a:pathLst>
                <a:path w="14640482" h="4761940">
                  <a:moveTo>
                    <a:pt x="0" y="0"/>
                  </a:moveTo>
                  <a:lnTo>
                    <a:pt x="14640482" y="0"/>
                  </a:lnTo>
                  <a:lnTo>
                    <a:pt x="14640482" y="4761940"/>
                  </a:lnTo>
                  <a:lnTo>
                    <a:pt x="0" y="47619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14640481" cy="481909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28700" y="6883530"/>
            <a:ext cx="8028674" cy="326046"/>
            <a:chOff x="0" y="0"/>
            <a:chExt cx="14640481" cy="59455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640482" cy="594552"/>
            </a:xfrm>
            <a:custGeom>
              <a:avLst/>
              <a:gdLst/>
              <a:ahLst/>
              <a:cxnLst/>
              <a:rect l="l" t="t" r="r" b="b"/>
              <a:pathLst>
                <a:path w="14640482" h="594552">
                  <a:moveTo>
                    <a:pt x="0" y="0"/>
                  </a:moveTo>
                  <a:lnTo>
                    <a:pt x="14640482" y="0"/>
                  </a:lnTo>
                  <a:lnTo>
                    <a:pt x="14640482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57150"/>
              <a:ext cx="14640481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62050" y="6940680"/>
            <a:ext cx="776287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9. Estructura de Costos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1599" y="7276251"/>
            <a:ext cx="7762875" cy="204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Hosting/cloud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Dominio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Desarrollo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Mantenimiento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Soporte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Seguridad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Comercialización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9057374" y="6883530"/>
            <a:ext cx="8028674" cy="2601869"/>
            <a:chOff x="0" y="0"/>
            <a:chExt cx="14640481" cy="474457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4640482" cy="4744571"/>
            </a:xfrm>
            <a:custGeom>
              <a:avLst/>
              <a:gdLst/>
              <a:ahLst/>
              <a:cxnLst/>
              <a:rect l="l" t="t" r="r" b="b"/>
              <a:pathLst>
                <a:path w="14640482" h="4744571">
                  <a:moveTo>
                    <a:pt x="0" y="0"/>
                  </a:moveTo>
                  <a:lnTo>
                    <a:pt x="14640482" y="0"/>
                  </a:lnTo>
                  <a:lnTo>
                    <a:pt x="14640482" y="4744571"/>
                  </a:lnTo>
                  <a:lnTo>
                    <a:pt x="0" y="47445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14640481" cy="4801721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84047" y="6883530"/>
            <a:ext cx="8028674" cy="326046"/>
            <a:chOff x="0" y="0"/>
            <a:chExt cx="14640481" cy="5945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640482" cy="594552"/>
            </a:xfrm>
            <a:custGeom>
              <a:avLst/>
              <a:gdLst/>
              <a:ahLst/>
              <a:cxnLst/>
              <a:rect l="l" t="t" r="r" b="b"/>
              <a:pathLst>
                <a:path w="14640482" h="594552">
                  <a:moveTo>
                    <a:pt x="0" y="0"/>
                  </a:moveTo>
                  <a:lnTo>
                    <a:pt x="14640482" y="0"/>
                  </a:lnTo>
                  <a:lnTo>
                    <a:pt x="14640482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14640481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9189422" y="6883530"/>
            <a:ext cx="776287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Fuentes de Ingreso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144000" y="7285776"/>
            <a:ext cx="7762875" cy="86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Suscripción mensual/anual por empresa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Planes según cantidad de usuarios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Implementación personalizada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17259300" cy="2168545"/>
            <a:chOff x="0" y="0"/>
            <a:chExt cx="23012400" cy="28913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012400" cy="2891393"/>
            </a:xfrm>
            <a:custGeom>
              <a:avLst/>
              <a:gdLst/>
              <a:ahLst/>
              <a:cxnLst/>
              <a:rect l="l" t="t" r="r" b="b"/>
              <a:pathLst>
                <a:path w="23012400" h="2891393">
                  <a:moveTo>
                    <a:pt x="0" y="0"/>
                  </a:moveTo>
                  <a:lnTo>
                    <a:pt x="23012400" y="0"/>
                  </a:lnTo>
                  <a:lnTo>
                    <a:pt x="23012400" y="2891393"/>
                  </a:lnTo>
                  <a:lnTo>
                    <a:pt x="0" y="2891393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012400" cy="2929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7524750" y="2029629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514350" y="2682895"/>
            <a:ext cx="17259300" cy="7259059"/>
          </a:xfrm>
          <a:custGeom>
            <a:avLst/>
            <a:gdLst/>
            <a:ahLst/>
            <a:cxnLst/>
            <a:rect l="l" t="t" r="r" b="b"/>
            <a:pathLst>
              <a:path w="17259300" h="7259059">
                <a:moveTo>
                  <a:pt x="0" y="0"/>
                </a:moveTo>
                <a:lnTo>
                  <a:pt x="17259300" y="0"/>
                </a:lnTo>
                <a:lnTo>
                  <a:pt x="17259300" y="7259059"/>
                </a:lnTo>
                <a:lnTo>
                  <a:pt x="0" y="725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6762750" y="1048554"/>
            <a:ext cx="4762500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5350" y="1243850"/>
            <a:ext cx="4762500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Conclusión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657350" y="199569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960332" y="2826286"/>
            <a:ext cx="2632537" cy="2632537"/>
          </a:xfrm>
          <a:custGeom>
            <a:avLst/>
            <a:gdLst/>
            <a:ahLst/>
            <a:cxnLst/>
            <a:rect l="l" t="t" r="r" b="b"/>
            <a:pathLst>
              <a:path w="2632537" h="2632537">
                <a:moveTo>
                  <a:pt x="0" y="0"/>
                </a:moveTo>
                <a:lnTo>
                  <a:pt x="2632536" y="0"/>
                </a:lnTo>
                <a:lnTo>
                  <a:pt x="2632536" y="2632537"/>
                </a:lnTo>
                <a:lnTo>
                  <a:pt x="0" y="2632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6667500" y="1763420"/>
            <a:ext cx="10752257" cy="21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1"/>
              </a:lnSpc>
              <a:spcBef>
                <a:spcPct val="0"/>
              </a:spcBef>
            </a:pPr>
            <a:r>
              <a:rPr lang="en-US" sz="2175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La plataforma permitirá digitalizar y estandarizar el levantamiento de información eléctrica en viviendas, facilitando la creación de fichas técnicas y apoyando la elaboración de soluciones y cotizaciones. El proyecto es factible de desarrollar como un MVP en 10 semanas, siempre que se prioricen las funciones principales y se validen los requerimientos con técnicos eléctricos.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0" y="1177175"/>
            <a:ext cx="10752257" cy="49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7"/>
              </a:lnSpc>
              <a:spcBef>
                <a:spcPct val="0"/>
              </a:spcBef>
            </a:pPr>
            <a:r>
              <a:rPr lang="en-US" sz="3113" u="none" strike="noStrike">
                <a:solidFill>
                  <a:srgbClr val="3A0443"/>
                </a:solidFill>
                <a:latin typeface="Open Sans"/>
                <a:ea typeface="Open Sans"/>
                <a:cs typeface="Open Sans"/>
                <a:sym typeface="Open Sans"/>
              </a:rPr>
              <a:t>Resumen y factibilidad del proyecto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0" y="5148262"/>
            <a:ext cx="9108196" cy="2631611"/>
            <a:chOff x="0" y="0"/>
            <a:chExt cx="12144262" cy="350881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1048213"/>
              <a:ext cx="115660" cy="194126"/>
              <a:chOff x="0" y="0"/>
              <a:chExt cx="75666" cy="127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1747066"/>
              <a:ext cx="115660" cy="194126"/>
              <a:chOff x="0" y="0"/>
              <a:chExt cx="75666" cy="127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2445920"/>
              <a:ext cx="115660" cy="194126"/>
              <a:chOff x="0" y="0"/>
              <a:chExt cx="75666" cy="127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3147673"/>
              <a:ext cx="115660" cy="194126"/>
              <a:chOff x="0" y="0"/>
              <a:chExt cx="75666" cy="12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-28575"/>
              <a:ext cx="12144262" cy="636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74"/>
                </a:lnSpc>
              </a:pPr>
              <a:r>
                <a:rPr lang="en-US" sz="3057" b="1">
                  <a:solidFill>
                    <a:srgbClr val="3A044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Ideas clave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7583" y="874520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Resuelve una necesidad real.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7583" y="1573373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Reduce el trabajo manual.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7583" y="2272227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Centraliza la información.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7583" y="2973980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Tiene posibilidades de ser escalable.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429000" y="3159124"/>
            <a:ext cx="1143000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Gracias por su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29000" y="4211804"/>
            <a:ext cx="1143000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atención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239000" y="5524500"/>
            <a:ext cx="38100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5334000" y="5821133"/>
            <a:ext cx="7620000" cy="122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rPr>
              <a:t>Proyecto Capstone · Plataforma de Gestión Técnica Eléctrica Ingeniería Informática</a:t>
            </a:r>
          </a:p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rPr>
              <a:t>Cesar Moreno · Marcelo Tapia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1267</Words>
  <Application>Microsoft Office PowerPoint</Application>
  <PresentationFormat>Personalizado</PresentationFormat>
  <Paragraphs>284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Open Sans Bold</vt:lpstr>
      <vt:lpstr>Roboto</vt:lpstr>
      <vt:lpstr>Roboto Bold</vt:lpstr>
      <vt:lpstr>Calibri</vt:lpstr>
      <vt:lpstr>Open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Propuesta de proyecto Minimalista Azul</dc:title>
  <cp:lastModifiedBy>CESAR NICOLAS MORENO SEPULVEDA</cp:lastModifiedBy>
  <cp:revision>4</cp:revision>
  <dcterms:created xsi:type="dcterms:W3CDTF">2006-08-16T00:00:00Z</dcterms:created>
  <dcterms:modified xsi:type="dcterms:W3CDTF">2026-08-31T23:41:01Z</dcterms:modified>
  <dc:identifier>DAHTtsH8kKA</dc:identifier>
</cp:coreProperties>
</file>